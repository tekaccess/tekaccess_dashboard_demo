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DM Sans" pitchFamily="2" charset="0"/>
      <p:regular r:id="rId3"/>
      <p:bold r:id="rId4"/>
    </p:embeddedFont>
    <p:embeddedFont>
      <p:font typeface="DM Sans Bold" charset="0"/>
      <p:regular r:id="rId5"/>
    </p:embeddedFont>
    <p:embeddedFont>
      <p:font typeface="Segoe UI" panose="020B0502040204020203" pitchFamily="3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18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19771" y="9186624"/>
            <a:ext cx="202347" cy="202347"/>
          </a:xfrm>
          <a:custGeom>
            <a:avLst/>
            <a:gdLst/>
            <a:ahLst/>
            <a:cxnLst/>
            <a:rect l="l" t="t" r="r" b="b"/>
            <a:pathLst>
              <a:path w="202347" h="202347">
                <a:moveTo>
                  <a:pt x="0" y="0"/>
                </a:moveTo>
                <a:lnTo>
                  <a:pt x="202347" y="0"/>
                </a:lnTo>
                <a:lnTo>
                  <a:pt x="202347" y="202347"/>
                </a:lnTo>
                <a:lnTo>
                  <a:pt x="0" y="20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90625" y="9149082"/>
            <a:ext cx="187204" cy="184822"/>
          </a:xfrm>
          <a:custGeom>
            <a:avLst/>
            <a:gdLst/>
            <a:ahLst/>
            <a:cxnLst/>
            <a:rect l="l" t="t" r="r" b="b"/>
            <a:pathLst>
              <a:path w="187204" h="184822">
                <a:moveTo>
                  <a:pt x="0" y="0"/>
                </a:moveTo>
                <a:lnTo>
                  <a:pt x="187205" y="0"/>
                </a:lnTo>
                <a:lnTo>
                  <a:pt x="187205" y="184822"/>
                </a:lnTo>
                <a:lnTo>
                  <a:pt x="0" y="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46850" y="9149082"/>
            <a:ext cx="249688" cy="277431"/>
          </a:xfrm>
          <a:custGeom>
            <a:avLst/>
            <a:gdLst/>
            <a:ahLst/>
            <a:cxnLst/>
            <a:rect l="l" t="t" r="r" b="b"/>
            <a:pathLst>
              <a:path w="249688" h="277431">
                <a:moveTo>
                  <a:pt x="0" y="0"/>
                </a:moveTo>
                <a:lnTo>
                  <a:pt x="249687" y="0"/>
                </a:lnTo>
                <a:lnTo>
                  <a:pt x="249687" y="277431"/>
                </a:lnTo>
                <a:lnTo>
                  <a:pt x="0" y="277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20366" y="8991920"/>
            <a:ext cx="6048008" cy="95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" y="1739000"/>
            <a:ext cx="2982792" cy="576729"/>
            <a:chOff x="0" y="0"/>
            <a:chExt cx="1977573" cy="266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77573" cy="266521"/>
            </a:xfrm>
            <a:custGeom>
              <a:avLst/>
              <a:gdLst/>
              <a:ahLst/>
              <a:cxnLst/>
              <a:rect l="l" t="t" r="r" b="b"/>
              <a:pathLst>
                <a:path w="1977573" h="266521">
                  <a:moveTo>
                    <a:pt x="1774373" y="0"/>
                  </a:moveTo>
                  <a:lnTo>
                    <a:pt x="0" y="0"/>
                  </a:lnTo>
                  <a:lnTo>
                    <a:pt x="0" y="266521"/>
                  </a:lnTo>
                  <a:lnTo>
                    <a:pt x="1774373" y="266521"/>
                  </a:lnTo>
                  <a:lnTo>
                    <a:pt x="1977573" y="133260"/>
                  </a:lnTo>
                  <a:lnTo>
                    <a:pt x="1774373" y="0"/>
                  </a:lnTo>
                  <a:close/>
                </a:path>
              </a:pathLst>
            </a:custGeom>
            <a:solidFill>
              <a:srgbClr val="D621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63273" cy="304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9278" y="4754742"/>
            <a:ext cx="862681" cy="2032624"/>
            <a:chOff x="-136125" y="-85426"/>
            <a:chExt cx="316358" cy="728038"/>
          </a:xfrm>
        </p:grpSpPr>
        <p:sp>
          <p:nvSpPr>
            <p:cNvPr id="13" name="Freeform 13"/>
            <p:cNvSpPr/>
            <p:nvPr/>
          </p:nvSpPr>
          <p:spPr>
            <a:xfrm>
              <a:off x="-136125" y="-85426"/>
              <a:ext cx="180233" cy="642612"/>
            </a:xfrm>
            <a:custGeom>
              <a:avLst/>
              <a:gdLst/>
              <a:ahLst/>
              <a:cxnLst/>
              <a:rect l="l" t="t" r="r" b="b"/>
              <a:pathLst>
                <a:path w="180233" h="642612">
                  <a:moveTo>
                    <a:pt x="0" y="0"/>
                  </a:moveTo>
                  <a:lnTo>
                    <a:pt x="180233" y="0"/>
                  </a:lnTo>
                  <a:lnTo>
                    <a:pt x="180233" y="642612"/>
                  </a:lnTo>
                  <a:lnTo>
                    <a:pt x="0" y="642612"/>
                  </a:lnTo>
                  <a:close/>
                </a:path>
              </a:pathLst>
            </a:custGeom>
            <a:solidFill>
              <a:srgbClr val="060B3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0233" cy="680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3909213" y="1644548"/>
            <a:ext cx="618623" cy="6282255"/>
            <a:chOff x="0" y="0"/>
            <a:chExt cx="180233" cy="20666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233" cy="2066696"/>
            </a:xfrm>
            <a:custGeom>
              <a:avLst/>
              <a:gdLst/>
              <a:ahLst/>
              <a:cxnLst/>
              <a:rect l="l" t="t" r="r" b="b"/>
              <a:pathLst>
                <a:path w="180233" h="2066696">
                  <a:moveTo>
                    <a:pt x="0" y="0"/>
                  </a:moveTo>
                  <a:lnTo>
                    <a:pt x="180233" y="0"/>
                  </a:lnTo>
                  <a:lnTo>
                    <a:pt x="180233" y="2066696"/>
                  </a:lnTo>
                  <a:lnTo>
                    <a:pt x="0" y="2066696"/>
                  </a:lnTo>
                  <a:close/>
                </a:path>
              </a:pathLst>
            </a:custGeom>
            <a:solidFill>
              <a:srgbClr val="060B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0233" cy="2104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0409" y="4413857"/>
            <a:ext cx="2845889" cy="716686"/>
            <a:chOff x="0" y="0"/>
            <a:chExt cx="2263964" cy="3729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63964" cy="372947"/>
            </a:xfrm>
            <a:custGeom>
              <a:avLst/>
              <a:gdLst/>
              <a:ahLst/>
              <a:cxnLst/>
              <a:rect l="l" t="t" r="r" b="b"/>
              <a:pathLst>
                <a:path w="2263964" h="372947">
                  <a:moveTo>
                    <a:pt x="2060764" y="0"/>
                  </a:moveTo>
                  <a:lnTo>
                    <a:pt x="0" y="0"/>
                  </a:lnTo>
                  <a:lnTo>
                    <a:pt x="0" y="372947"/>
                  </a:lnTo>
                  <a:lnTo>
                    <a:pt x="2060764" y="372947"/>
                  </a:lnTo>
                  <a:lnTo>
                    <a:pt x="2263964" y="186474"/>
                  </a:lnTo>
                  <a:lnTo>
                    <a:pt x="2060764" y="0"/>
                  </a:lnTo>
                  <a:close/>
                </a:path>
              </a:pathLst>
            </a:custGeom>
            <a:solidFill>
              <a:srgbClr val="D621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49664" cy="41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589271" y="5443587"/>
            <a:ext cx="6770380" cy="2180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784679" y="5947804"/>
            <a:ext cx="6574972" cy="432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784658" y="6343248"/>
            <a:ext cx="6567244" cy="295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42570" y="154014"/>
            <a:ext cx="2309994" cy="1539033"/>
          </a:xfrm>
          <a:custGeom>
            <a:avLst/>
            <a:gdLst/>
            <a:ahLst/>
            <a:cxnLst/>
            <a:rect l="l" t="t" r="r" b="b"/>
            <a:pathLst>
              <a:path w="2309994" h="1539033">
                <a:moveTo>
                  <a:pt x="0" y="0"/>
                </a:moveTo>
                <a:lnTo>
                  <a:pt x="2309994" y="0"/>
                </a:lnTo>
                <a:lnTo>
                  <a:pt x="2309994" y="1539033"/>
                </a:lnTo>
                <a:lnTo>
                  <a:pt x="0" y="15390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850568" y="4611754"/>
            <a:ext cx="1472151" cy="27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/>
              <a:t>Invoice Date</a:t>
            </a:r>
            <a:endParaRPr lang="en-US" sz="1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349393" y="4473121"/>
            <a:ext cx="1116628" cy="55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chemeClr val="bg1"/>
                </a:solidFill>
              </a:rPr>
              <a:t>Invoice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Number</a:t>
            </a:r>
            <a:endParaRPr lang="en-US" sz="1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41609" y="4593602"/>
            <a:ext cx="1220052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Reference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96927" y="4607793"/>
            <a:ext cx="1064168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Amount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7840" y="5127722"/>
            <a:ext cx="1472151" cy="27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/>
              <a:t>17/03/2026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19231" y="5490381"/>
            <a:ext cx="1915810" cy="27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/>
              <a:t>17/03/2026 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92325" y="5976641"/>
            <a:ext cx="1191469" cy="27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/>
              <a:t>23/03/2026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838518" y="5138667"/>
            <a:ext cx="1916128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2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BILL/2026/03/0067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25481" y="5583434"/>
            <a:ext cx="1804066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2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DTB1/2026/00064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22012" y="6531783"/>
            <a:ext cx="5521559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200" b="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Due Amount for BILL/2026/03/0067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2107" y="7497998"/>
            <a:ext cx="2694477" cy="30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D62125"/>
                </a:solidFill>
                <a:latin typeface="DM Sans Bold"/>
                <a:ea typeface="DM Sans Bold"/>
                <a:cs typeface="DM Sans Bold"/>
                <a:sym typeface="DM Sans Bold"/>
              </a:rPr>
              <a:t>Payment Method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2650" y="7588152"/>
            <a:ext cx="2054741" cy="81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54"/>
              </a:lnSpc>
            </a:pPr>
            <a:endParaRPr lang="en-US" sz="1200" dirty="0"/>
          </a:p>
          <a:p>
            <a:pPr algn="r">
              <a:lnSpc>
                <a:spcPts val="1554"/>
              </a:lnSpc>
            </a:pPr>
            <a:r>
              <a:rPr lang="en-US" sz="1400" b="1" dirty="0"/>
              <a:t>Manual Payment </a:t>
            </a:r>
          </a:p>
          <a:p>
            <a:pPr algn="r">
              <a:lnSpc>
                <a:spcPts val="1554"/>
              </a:lnSpc>
            </a:pPr>
            <a:r>
              <a:rPr lang="en-US" sz="1400" b="1" dirty="0"/>
              <a:t>Memo: BILL/2026/03/0067</a:t>
            </a:r>
            <a:endParaRPr lang="en-US" sz="1400" b="1" spc="3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1554"/>
              </a:lnSpc>
            </a:pPr>
            <a:endParaRPr lang="en-US" sz="111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62107" y="8739131"/>
            <a:ext cx="2882263" cy="19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 for your choosing us!!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4558" y="2358938"/>
            <a:ext cx="2694477" cy="819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DM Sans Bold"/>
                <a:cs typeface="Segoe UI" panose="020B0502040204020203" pitchFamily="34" charset="0"/>
                <a:sym typeface="DM Sans Bold"/>
              </a:rPr>
              <a:t>Payment Date: 23/03/2026</a:t>
            </a:r>
          </a:p>
          <a:p>
            <a:pPr algn="l">
              <a:lnSpc>
                <a:spcPts val="2240"/>
              </a:lnSpc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DM Sans Bold"/>
                <a:cs typeface="Segoe UI" panose="020B0502040204020203" pitchFamily="34" charset="0"/>
                <a:sym typeface="DM Sans Bold"/>
              </a:rPr>
              <a:t>Vendor: IDRIS YUSUF GORODH</a:t>
            </a:r>
          </a:p>
          <a:p>
            <a:pPr algn="l">
              <a:lnSpc>
                <a:spcPts val="2240"/>
              </a:lnSpc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DM Sans Bold"/>
                <a:cs typeface="Segoe UI" panose="020B0502040204020203" pitchFamily="34" charset="0"/>
                <a:sym typeface="DM Sans Bold"/>
              </a:rPr>
              <a:t>Payment Amount: $ 5,000.0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91834" y="9120507"/>
            <a:ext cx="1288732" cy="19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4"/>
              </a:lnSpc>
            </a:pPr>
            <a:r>
              <a:rPr lang="en-US" sz="1200" b="1" dirty="0"/>
              <a:t>+250 788326 686</a:t>
            </a:r>
            <a:endParaRPr lang="en-US" sz="1110" b="1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2958462" y="9141292"/>
            <a:ext cx="1962775" cy="40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4"/>
              </a:lnSpc>
            </a:pPr>
            <a:r>
              <a:rPr lang="en-US" sz="1050" dirty="0"/>
              <a:t>TEKACCESS 13 KG 599 St,</a:t>
            </a:r>
          </a:p>
          <a:p>
            <a:pPr>
              <a:lnSpc>
                <a:spcPts val="1554"/>
              </a:lnSpc>
            </a:pPr>
            <a:r>
              <a:rPr lang="en-US" sz="1050" dirty="0"/>
              <a:t> </a:t>
            </a:r>
            <a:r>
              <a:rPr lang="en-US" sz="1050" dirty="0" err="1"/>
              <a:t>Gishushu</a:t>
            </a:r>
            <a:r>
              <a:rPr lang="en-US" sz="1050" dirty="0"/>
              <a:t> Kigali Rwanda</a:t>
            </a:r>
            <a:endParaRPr lang="en-US" sz="105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5612526" y="9201658"/>
            <a:ext cx="1732710" cy="197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54"/>
              </a:lnSpc>
            </a:pPr>
            <a:r>
              <a:rPr lang="en-US" sz="1200" b="1" dirty="0"/>
              <a:t>Email: info@tekaccess.rw</a:t>
            </a:r>
            <a:endParaRPr lang="en-US" sz="1110" b="1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733548" y="1652793"/>
            <a:ext cx="1409396" cy="60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endParaRPr lang="en-US" sz="1110" spc="3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1554"/>
              </a:lnSpc>
            </a:pPr>
            <a:r>
              <a:rPr lang="en-US" sz="1110" b="1" spc="39" dirty="0">
                <a:solidFill>
                  <a:srgbClr val="FFFFFF"/>
                </a:solidFill>
                <a:latin typeface="Segoe UI" panose="020B0502040204020203" pitchFamily="34" charset="0"/>
                <a:ea typeface="DM Sans"/>
                <a:cs typeface="Segoe UI" panose="020B0502040204020203" pitchFamily="34" charset="0"/>
                <a:sym typeface="DM Sans"/>
              </a:rPr>
              <a:t>Payment Receipt: : </a:t>
            </a:r>
            <a:r>
              <a:rPr lang="en-US" sz="1110" b="1" spc="39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DM Sans"/>
                <a:cs typeface="Segoe UI" panose="020B0502040204020203" pitchFamily="34" charset="0"/>
                <a:sym typeface="DM Sans"/>
              </a:rPr>
              <a:t>PDTB1/2026/00001</a:t>
            </a:r>
          </a:p>
        </p:txBody>
      </p:sp>
      <p:sp>
        <p:nvSpPr>
          <p:cNvPr id="61" name="Freeform 61"/>
          <p:cNvSpPr/>
          <p:nvPr/>
        </p:nvSpPr>
        <p:spPr>
          <a:xfrm>
            <a:off x="-231106" y="9607488"/>
            <a:ext cx="7823324" cy="1186537"/>
          </a:xfrm>
          <a:custGeom>
            <a:avLst/>
            <a:gdLst/>
            <a:ahLst/>
            <a:cxnLst/>
            <a:rect l="l" t="t" r="r" b="b"/>
            <a:pathLst>
              <a:path w="7823324" h="1186537">
                <a:moveTo>
                  <a:pt x="0" y="0"/>
                </a:moveTo>
                <a:lnTo>
                  <a:pt x="7823324" y="0"/>
                </a:lnTo>
                <a:lnTo>
                  <a:pt x="7823324" y="1186537"/>
                </a:lnTo>
                <a:lnTo>
                  <a:pt x="0" y="1186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CCB42E-AE9C-5985-DAD2-CE3040AE8C0B}"/>
              </a:ext>
            </a:extLst>
          </p:cNvPr>
          <p:cNvSpPr txBox="1"/>
          <p:nvPr/>
        </p:nvSpPr>
        <p:spPr>
          <a:xfrm>
            <a:off x="2982792" y="5971181"/>
            <a:ext cx="391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DM Sans" pitchFamily="2" charset="0"/>
              </a:rPr>
              <a:t>PDTB1/2026/00001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170CBC-098E-42AE-A3D7-DDB857ECF440}"/>
              </a:ext>
            </a:extLst>
          </p:cNvPr>
          <p:cNvSpPr txBox="1"/>
          <p:nvPr/>
        </p:nvSpPr>
        <p:spPr>
          <a:xfrm>
            <a:off x="4565954" y="6051153"/>
            <a:ext cx="165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DM Sans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BILL/2026/03/0067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7F90C7-13F9-518F-C42F-E8173E686613}"/>
              </a:ext>
            </a:extLst>
          </p:cNvPr>
          <p:cNvSpPr txBox="1"/>
          <p:nvPr/>
        </p:nvSpPr>
        <p:spPr>
          <a:xfrm>
            <a:off x="6096927" y="5097723"/>
            <a:ext cx="43539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$ 16,500.00</a:t>
            </a:r>
          </a:p>
        </p:txBody>
      </p:sp>
      <p:sp>
        <p:nvSpPr>
          <p:cNvPr id="68" name="AutoShape 23">
            <a:extLst>
              <a:ext uri="{FF2B5EF4-FFF2-40B4-BE49-F238E27FC236}">
                <a16:creationId xmlns:a16="http://schemas.microsoft.com/office/drawing/2014/main" id="{7A1073A5-3DCB-DFA7-32D7-8D6D8A36803A}"/>
              </a:ext>
            </a:extLst>
          </p:cNvPr>
          <p:cNvSpPr/>
          <p:nvPr/>
        </p:nvSpPr>
        <p:spPr>
          <a:xfrm flipV="1">
            <a:off x="6125184" y="5019349"/>
            <a:ext cx="1" cy="134672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9" name="AutoShape 23">
            <a:extLst>
              <a:ext uri="{FF2B5EF4-FFF2-40B4-BE49-F238E27FC236}">
                <a16:creationId xmlns:a16="http://schemas.microsoft.com/office/drawing/2014/main" id="{C63F2E74-27C8-5819-AE70-B9CCB8AF03E8}"/>
              </a:ext>
            </a:extLst>
          </p:cNvPr>
          <p:cNvSpPr/>
          <p:nvPr/>
        </p:nvSpPr>
        <p:spPr>
          <a:xfrm flipV="1">
            <a:off x="4581835" y="5031671"/>
            <a:ext cx="19452" cy="13088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" name="AutoShape 23">
            <a:extLst>
              <a:ext uri="{FF2B5EF4-FFF2-40B4-BE49-F238E27FC236}">
                <a16:creationId xmlns:a16="http://schemas.microsoft.com/office/drawing/2014/main" id="{E4E87247-378E-507D-5B8A-C123813F8056}"/>
              </a:ext>
            </a:extLst>
          </p:cNvPr>
          <p:cNvSpPr/>
          <p:nvPr/>
        </p:nvSpPr>
        <p:spPr>
          <a:xfrm flipH="1" flipV="1">
            <a:off x="2933577" y="5019351"/>
            <a:ext cx="7719" cy="13211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C0ABF4-148A-CF19-EC26-42710BEBD5CD}"/>
              </a:ext>
            </a:extLst>
          </p:cNvPr>
          <p:cNvSpPr txBox="1"/>
          <p:nvPr/>
        </p:nvSpPr>
        <p:spPr>
          <a:xfrm>
            <a:off x="6112146" y="5603331"/>
            <a:ext cx="5338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$ -​2,700.00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BF940F-7263-7B6E-19CB-9E08660EEBB0}"/>
              </a:ext>
            </a:extLst>
          </p:cNvPr>
          <p:cNvSpPr txBox="1"/>
          <p:nvPr/>
        </p:nvSpPr>
        <p:spPr>
          <a:xfrm>
            <a:off x="6112146" y="5969401"/>
            <a:ext cx="584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$ -​5,000.00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0BCEAA-4030-F5B0-C394-356B56A926EC}"/>
              </a:ext>
            </a:extLst>
          </p:cNvPr>
          <p:cNvSpPr txBox="1"/>
          <p:nvPr/>
        </p:nvSpPr>
        <p:spPr>
          <a:xfrm>
            <a:off x="6123408" y="64643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$ 8,800.00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B14950-4177-92CE-AD06-505445256895}"/>
              </a:ext>
            </a:extLst>
          </p:cNvPr>
          <p:cNvSpPr txBox="1"/>
          <p:nvPr/>
        </p:nvSpPr>
        <p:spPr>
          <a:xfrm>
            <a:off x="2702795" y="861825"/>
            <a:ext cx="4376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75000"/>
                  </a:schemeClr>
                </a:solidFill>
              </a:rPr>
              <a:t>“Built on trust. Delivered with Excellence.”</a:t>
            </a:r>
          </a:p>
        </p:txBody>
      </p:sp>
      <p:sp>
        <p:nvSpPr>
          <p:cNvPr id="83" name="AutoShape 23">
            <a:extLst>
              <a:ext uri="{FF2B5EF4-FFF2-40B4-BE49-F238E27FC236}">
                <a16:creationId xmlns:a16="http://schemas.microsoft.com/office/drawing/2014/main" id="{8102D40C-6346-44A5-1A5C-C79A1EEBCA82}"/>
              </a:ext>
            </a:extLst>
          </p:cNvPr>
          <p:cNvSpPr/>
          <p:nvPr/>
        </p:nvSpPr>
        <p:spPr>
          <a:xfrm flipH="1" flipV="1">
            <a:off x="7345236" y="4754742"/>
            <a:ext cx="6666" cy="161810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100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DM Sans Bold</vt:lpstr>
      <vt:lpstr>Segoe UI</vt:lpstr>
      <vt:lpstr>Calibri</vt:lpstr>
      <vt:lpstr>Arial</vt:lpstr>
      <vt:lpstr>DM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Red Professional Invoice</dc:title>
  <dc:creator>HP</dc:creator>
  <cp:lastModifiedBy>joy ntizimira</cp:lastModifiedBy>
  <cp:revision>5</cp:revision>
  <dcterms:created xsi:type="dcterms:W3CDTF">2006-08-16T00:00:00Z</dcterms:created>
  <dcterms:modified xsi:type="dcterms:W3CDTF">2026-03-25T10:04:01Z</dcterms:modified>
  <dc:identifier>DAHEqxkfs48</dc:identifier>
</cp:coreProperties>
</file>