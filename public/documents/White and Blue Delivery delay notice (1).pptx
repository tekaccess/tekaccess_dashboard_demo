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906000" cy="13182600"/>
  <p:notesSz cx="6858000" cy="9144000"/>
  <p:embeddedFontLst>
    <p:embeddedFont>
      <p:font typeface="Lato Bold" panose="020B0604020202020204" charset="0"/>
      <p:regular r:id="rId3"/>
    </p:embeddedFont>
    <p:embeddedFont>
      <p:font typeface="Open Sans" panose="020B0606030504020204" pitchFamily="3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2616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24" y="-66214"/>
            <a:ext cx="10076324" cy="13248815"/>
            <a:chOff x="0" y="-19050"/>
            <a:chExt cx="2631924" cy="3811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31924" cy="3792672"/>
            </a:xfrm>
            <a:custGeom>
              <a:avLst/>
              <a:gdLst/>
              <a:ahLst/>
              <a:cxnLst/>
              <a:rect l="l" t="t" r="r" b="b"/>
              <a:pathLst>
                <a:path w="2631924" h="3754362">
                  <a:moveTo>
                    <a:pt x="0" y="0"/>
                  </a:moveTo>
                  <a:lnTo>
                    <a:pt x="2631924" y="0"/>
                  </a:lnTo>
                  <a:lnTo>
                    <a:pt x="2631924" y="3754362"/>
                  </a:lnTo>
                  <a:lnTo>
                    <a:pt x="0" y="37543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631924" cy="3773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2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-170324" y="0"/>
            <a:ext cx="3436419" cy="2392607"/>
          </a:xfrm>
          <a:custGeom>
            <a:avLst/>
            <a:gdLst/>
            <a:ahLst/>
            <a:cxnLst/>
            <a:rect l="l" t="t" r="r" b="b"/>
            <a:pathLst>
              <a:path w="3436419" h="2392607">
                <a:moveTo>
                  <a:pt x="0" y="2392606"/>
                </a:moveTo>
                <a:lnTo>
                  <a:pt x="3436419" y="2392606"/>
                </a:lnTo>
                <a:lnTo>
                  <a:pt x="3436419" y="0"/>
                </a:lnTo>
                <a:lnTo>
                  <a:pt x="0" y="0"/>
                </a:lnTo>
                <a:lnTo>
                  <a:pt x="0" y="23926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6469581" y="-30983"/>
            <a:ext cx="3436419" cy="2392607"/>
          </a:xfrm>
          <a:custGeom>
            <a:avLst/>
            <a:gdLst/>
            <a:ahLst/>
            <a:cxnLst/>
            <a:rect l="l" t="t" r="r" b="b"/>
            <a:pathLst>
              <a:path w="3436419" h="2392607">
                <a:moveTo>
                  <a:pt x="3436419" y="2392606"/>
                </a:moveTo>
                <a:lnTo>
                  <a:pt x="0" y="2392606"/>
                </a:lnTo>
                <a:lnTo>
                  <a:pt x="0" y="0"/>
                </a:lnTo>
                <a:lnTo>
                  <a:pt x="3436419" y="0"/>
                </a:lnTo>
                <a:lnTo>
                  <a:pt x="3436419" y="23926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-170324" y="11054195"/>
            <a:ext cx="3436419" cy="2128406"/>
          </a:xfrm>
          <a:custGeom>
            <a:avLst/>
            <a:gdLst/>
            <a:ahLst/>
            <a:cxnLst/>
            <a:rect l="l" t="t" r="r" b="b"/>
            <a:pathLst>
              <a:path w="3436419" h="2392607">
                <a:moveTo>
                  <a:pt x="0" y="0"/>
                </a:moveTo>
                <a:lnTo>
                  <a:pt x="3436419" y="0"/>
                </a:lnTo>
                <a:lnTo>
                  <a:pt x="3436419" y="2392606"/>
                </a:lnTo>
                <a:lnTo>
                  <a:pt x="0" y="2392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639904" y="11054195"/>
            <a:ext cx="3266095" cy="2128406"/>
          </a:xfrm>
          <a:custGeom>
            <a:avLst/>
            <a:gdLst/>
            <a:ahLst/>
            <a:cxnLst/>
            <a:rect l="l" t="t" r="r" b="b"/>
            <a:pathLst>
              <a:path w="3436419" h="2392607">
                <a:moveTo>
                  <a:pt x="3436419" y="0"/>
                </a:moveTo>
                <a:lnTo>
                  <a:pt x="0" y="0"/>
                </a:lnTo>
                <a:lnTo>
                  <a:pt x="0" y="2392606"/>
                </a:lnTo>
                <a:lnTo>
                  <a:pt x="3436419" y="2392606"/>
                </a:lnTo>
                <a:lnTo>
                  <a:pt x="343641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97219" y="1476106"/>
            <a:ext cx="5311563" cy="53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3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DELIVERY DELAY NOTICE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39906" y="2361624"/>
            <a:ext cx="2297610" cy="41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Date: January 22, 2026</a:t>
            </a:r>
          </a:p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Notice No.: NOV-2026-014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8484" y="2317217"/>
            <a:ext cx="3436419" cy="1294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Calibri Regular"/>
                <a:ea typeface="Open Sans"/>
                <a:cs typeface="Open Sans"/>
                <a:sym typeface="Open Sans"/>
              </a:rPr>
              <a:t>Date: [DD/MM/YYYY]</a:t>
            </a:r>
          </a:p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Calibri Regular"/>
                <a:ea typeface="Open Sans"/>
                <a:cs typeface="Open Sans"/>
                <a:sym typeface="Open Sans"/>
              </a:rPr>
              <a:t>Client Name: [Company / Client Name]</a:t>
            </a:r>
          </a:p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Calibri Regular"/>
                <a:ea typeface="Open Sans"/>
                <a:cs typeface="Open Sans"/>
                <a:sym typeface="Open Sans"/>
              </a:rPr>
              <a:t>Contact Person: [Name]</a:t>
            </a:r>
          </a:p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Calibri Regular"/>
                <a:ea typeface="Open Sans"/>
                <a:cs typeface="Open Sans"/>
                <a:sym typeface="Open Sans"/>
              </a:rPr>
              <a:t>Order Number: [PO / SO Number]</a:t>
            </a:r>
          </a:p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Calibri Regular"/>
                <a:ea typeface="Open Sans"/>
                <a:cs typeface="Open Sans"/>
                <a:sym typeface="Open Sans"/>
              </a:rPr>
              <a:t>Product(s): [Items Ordered]</a:t>
            </a:r>
          </a:p>
          <a:p>
            <a:pPr algn="l">
              <a:lnSpc>
                <a:spcPts val="1726"/>
              </a:lnSpc>
              <a:spcBef>
                <a:spcPct val="0"/>
              </a:spcBef>
            </a:pPr>
            <a:r>
              <a:rPr lang="en-US" sz="1232" dirty="0">
                <a:solidFill>
                  <a:srgbClr val="000000"/>
                </a:solidFill>
                <a:latin typeface="Calibri Regular"/>
                <a:ea typeface="Open Sans"/>
                <a:cs typeface="Open Sans"/>
                <a:sym typeface="Open Sans"/>
              </a:rPr>
              <a:t>Original Delivery Date: [DD/MM/YYYY]1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0314AD2-4777-BA88-A318-D68258CF68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844" l="1823" r="96875">
                        <a14:foregroundMark x1="91146" y1="36426" x2="27279" y2="37109"/>
                        <a14:foregroundMark x1="27279" y1="37109" x2="10026" y2="45605"/>
                        <a14:foregroundMark x1="10026" y1="45605" x2="60872" y2="61328"/>
                        <a14:foregroundMark x1="60872" y1="61328" x2="44727" y2="46484"/>
                        <a14:foregroundMark x1="44727" y1="46484" x2="71875" y2="53125"/>
                        <a14:foregroundMark x1="71875" y1="53125" x2="91406" y2="45605"/>
                        <a14:foregroundMark x1="91406" y1="45605" x2="74609" y2="55078"/>
                        <a14:foregroundMark x1="74609" y1="55078" x2="56120" y2="46289"/>
                        <a14:foregroundMark x1="56120" y1="46289" x2="76432" y2="52246"/>
                        <a14:foregroundMark x1="76432" y1="52246" x2="34570" y2="57031"/>
                        <a14:foregroundMark x1="34570" y1="57031" x2="29753" y2="37500"/>
                        <a14:foregroundMark x1="85417" y1="35352" x2="80404" y2="37500"/>
                        <a14:foregroundMark x1="63997" y1="35352" x2="74023" y2="31055"/>
                        <a14:foregroundMark x1="66146" y1="26758" x2="74023" y2="35352"/>
                        <a14:foregroundMark x1="37565" y1="27832" x2="57552" y2="29980"/>
                        <a14:foregroundMark x1="57552" y1="29980" x2="52604" y2="31055"/>
                        <a14:foregroundMark x1="50456" y1="32129" x2="51172" y2="28906"/>
                        <a14:foregroundMark x1="63281" y1="32129" x2="58984" y2="32129"/>
                        <a14:foregroundMark x1="59701" y1="32129" x2="56120" y2="33203"/>
                        <a14:foregroundMark x1="56120" y1="33203" x2="52604" y2="33203"/>
                        <a14:foregroundMark x1="53320" y1="33203" x2="53320" y2="33203"/>
                        <a14:foregroundMark x1="46159" y1="38574" x2="44010" y2="39648"/>
                        <a14:foregroundMark x1="46159" y1="37500" x2="43294" y2="41797"/>
                        <a14:foregroundMark x1="39714" y1="38574" x2="39714" y2="38574"/>
                        <a14:foregroundMark x1="41146" y1="38574" x2="40430" y2="42871"/>
                        <a14:foregroundMark x1="44727" y1="46094" x2="44727" y2="52539"/>
                        <a14:foregroundMark x1="44727" y1="52539" x2="44010" y2="56738"/>
                        <a14:foregroundMark x1="43294" y1="53613" x2="43294" y2="53613"/>
                        <a14:foregroundMark x1="41862" y1="52539" x2="41862" y2="52539"/>
                        <a14:foregroundMark x1="41862" y1="52539" x2="39714" y2="56738"/>
                        <a14:foregroundMark x1="38281" y1="53613" x2="36849" y2="56738"/>
                        <a14:foregroundMark x1="36849" y1="49316" x2="36849" y2="49316"/>
                        <a14:foregroundMark x1="38281" y1="48242" x2="38281" y2="48242"/>
                        <a14:foregroundMark x1="40430" y1="46094" x2="41146" y2="50391"/>
                        <a14:foregroundMark x1="41862" y1="47168" x2="41862" y2="47168"/>
                        <a14:foregroundMark x1="46875" y1="47168" x2="46875" y2="50391"/>
                        <a14:foregroundMark x1="46875" y1="48242" x2="46875" y2="52539"/>
                        <a14:foregroundMark x1="46875" y1="52539" x2="46875" y2="52539"/>
                        <a14:foregroundMark x1="45443" y1="53613" x2="45443" y2="53613"/>
                        <a14:foregroundMark x1="45443" y1="54688" x2="45443" y2="54688"/>
                        <a14:foregroundMark x1="43294" y1="52539" x2="43294" y2="52539"/>
                        <a14:foregroundMark x1="41146" y1="48242" x2="41146" y2="48242"/>
                        <a14:foregroundMark x1="40430" y1="49316" x2="38281" y2="54688"/>
                        <a14:foregroundMark x1="36849" y1="53613" x2="36849" y2="56738"/>
                        <a14:foregroundMark x1="37565" y1="52539" x2="37565" y2="52539"/>
                        <a14:foregroundMark x1="40430" y1="43945" x2="41862" y2="48242"/>
                        <a14:foregroundMark x1="41862" y1="48242" x2="41862" y2="48242"/>
                        <a14:foregroundMark x1="41862" y1="48242" x2="44010" y2="54688"/>
                        <a14:foregroundMark x1="44727" y1="54688" x2="46875" y2="58887"/>
                        <a14:foregroundMark x1="46875" y1="65332" x2="46875" y2="68555"/>
                        <a14:foregroundMark x1="47591" y1="56738" x2="47591" y2="56738"/>
                        <a14:foregroundMark x1="45443" y1="57813" x2="45443" y2="57813"/>
                        <a14:foregroundMark x1="45443" y1="58887" x2="45443" y2="58887"/>
                        <a14:foregroundMark x1="44727" y1="61035" x2="44727" y2="61035"/>
                        <a14:foregroundMark x1="36849" y1="56738" x2="36849" y2="56738"/>
                        <a14:foregroundMark x1="36849" y1="56738" x2="36849" y2="56738"/>
                        <a14:foregroundMark x1="36849" y1="56738" x2="36849" y2="56738"/>
                        <a14:foregroundMark x1="38997" y1="58887" x2="38997" y2="58887"/>
                        <a14:foregroundMark x1="40430" y1="56738" x2="40430" y2="56738"/>
                        <a14:foregroundMark x1="40430" y1="56738" x2="40430" y2="56738"/>
                        <a14:foregroundMark x1="40430" y1="56738" x2="40430" y2="56738"/>
                        <a14:foregroundMark x1="41146" y1="55762" x2="46875" y2="55762"/>
                        <a14:foregroundMark x1="44010" y1="42871" x2="44010" y2="50391"/>
                        <a14:foregroundMark x1="41862" y1="54688" x2="38997" y2="64258"/>
                        <a14:foregroundMark x1="38997" y1="63184" x2="38997" y2="63184"/>
                        <a14:foregroundMark x1="39714" y1="56738" x2="39714" y2="56738"/>
                        <a14:foregroundMark x1="40430" y1="58887" x2="38997" y2="63184"/>
                        <a14:foregroundMark x1="33984" y1="57813" x2="33984" y2="61035"/>
                        <a14:foregroundMark x1="33268" y1="58887" x2="33268" y2="58887"/>
                        <a14:foregroundMark x1="31836" y1="50391" x2="31836" y2="50391"/>
                        <a14:foregroundMark x1="29753" y1="52539" x2="26172" y2="58887"/>
                        <a14:foregroundMark x1="25456" y1="38574" x2="24740" y2="47168"/>
                        <a14:foregroundMark x1="27604" y1="40723" x2="29036" y2="51465"/>
                        <a14:foregroundMark x1="29036" y1="42871" x2="28320" y2="47168"/>
                        <a14:foregroundMark x1="26888" y1="41797" x2="26172" y2="48242"/>
                        <a14:foregroundMark x1="28320" y1="33203" x2="31120" y2="33203"/>
                        <a14:foregroundMark x1="31120" y1="33203" x2="31836" y2="34277"/>
                        <a14:foregroundMark x1="36133" y1="25684" x2="31120" y2="35352"/>
                        <a14:foregroundMark x1="26172" y1="35352" x2="24023" y2="39648"/>
                        <a14:foregroundMark x1="20443" y1="38574" x2="18294" y2="41797"/>
                        <a14:foregroundMark x1="16862" y1="40723" x2="15430" y2="45020"/>
                        <a14:foregroundMark x1="14714" y1="41797" x2="14714" y2="45020"/>
                        <a14:foregroundMark x1="13281" y1="43945" x2="10417" y2="49316"/>
                        <a14:foregroundMark x1="12565" y1="45020" x2="11133" y2="50391"/>
                        <a14:foregroundMark x1="10417" y1="51465" x2="8984" y2="54688"/>
                        <a14:foregroundMark x1="2604" y1="55762" x2="2604" y2="55762"/>
                        <a14:foregroundMark x1="1888" y1="49316" x2="1888" y2="49316"/>
                        <a14:foregroundMark x1="2604" y1="48242" x2="5404" y2="52539"/>
                        <a14:foregroundMark x1="8984" y1="51465" x2="8984" y2="54688"/>
                        <a14:foregroundMark x1="8984" y1="47168" x2="8984" y2="51465"/>
                        <a14:foregroundMark x1="8268" y1="52539" x2="8268" y2="52539"/>
                        <a14:foregroundMark x1="20443" y1="45020" x2="21875" y2="49316"/>
                        <a14:foregroundMark x1="66146" y1="28906" x2="60417" y2="32129"/>
                        <a14:foregroundMark x1="53320" y1="29980" x2="53320" y2="29980"/>
                        <a14:foregroundMark x1="51888" y1="32129" x2="51888" y2="32129"/>
                        <a14:foregroundMark x1="46159" y1="26758" x2="44727" y2="29980"/>
                        <a14:foregroundMark x1="44010" y1="29980" x2="44010" y2="29980"/>
                        <a14:foregroundMark x1="45443" y1="24609" x2="45443" y2="24609"/>
                        <a14:foregroundMark x1="45443" y1="24609" x2="56120" y2="28906"/>
                        <a14:foregroundMark x1="54753" y1="27832" x2="72591" y2="20996"/>
                        <a14:foregroundMark x1="72591" y1="20996" x2="89844" y2="34082"/>
                        <a14:foregroundMark x1="89844" y1="34082" x2="91862" y2="49316"/>
                        <a14:foregroundMark x1="93294" y1="47168" x2="90430" y2="57813"/>
                        <a14:foregroundMark x1="93294" y1="37500" x2="93294" y2="37500"/>
                        <a14:foregroundMark x1="79036" y1="34277" x2="79036" y2="34277"/>
                        <a14:foregroundMark x1="83268" y1="40723" x2="85417" y2="50391"/>
                        <a14:foregroundMark x1="83268" y1="46094" x2="80404" y2="46094"/>
                        <a14:foregroundMark x1="74023" y1="36426" x2="71875" y2="43945"/>
                        <a14:foregroundMark x1="70443" y1="43945" x2="70443" y2="43945"/>
                        <a14:foregroundMark x1="74023" y1="34277" x2="74023" y2="34277"/>
                        <a14:foregroundMark x1="75456" y1="34277" x2="75456" y2="34277"/>
                        <a14:foregroundMark x1="66862" y1="39648" x2="66862" y2="39648"/>
                        <a14:foregroundMark x1="58984" y1="45020" x2="58984" y2="45020"/>
                        <a14:foregroundMark x1="56120" y1="34277" x2="56120" y2="34277"/>
                        <a14:foregroundMark x1="58984" y1="23535" x2="58984" y2="23535"/>
                        <a14:foregroundMark x1="58268" y1="26758" x2="54036" y2="29980"/>
                        <a14:foregroundMark x1="54753" y1="22461" x2="54753" y2="22461"/>
                        <a14:foregroundMark x1="54753" y1="22461" x2="52604" y2="23535"/>
                        <a14:foregroundMark x1="46159" y1="25684" x2="46159" y2="25684"/>
                        <a14:foregroundMark x1="41862" y1="23535" x2="41862" y2="23535"/>
                        <a14:foregroundMark x1="41146" y1="23535" x2="39714" y2="26758"/>
                        <a14:foregroundMark x1="38997" y1="34277" x2="37565" y2="37500"/>
                        <a14:foregroundMark x1="37565" y1="36426" x2="37565" y2="36426"/>
                        <a14:foregroundMark x1="24740" y1="21387" x2="22591" y2="23535"/>
                        <a14:foregroundMark x1="13281" y1="48242" x2="13281" y2="48242"/>
                        <a14:foregroundMark x1="8984" y1="40723" x2="8984" y2="43945"/>
                        <a14:foregroundMark x1="10417" y1="51465" x2="12565" y2="55762"/>
                        <a14:foregroundMark x1="12565" y1="55762" x2="12565" y2="59961"/>
                        <a14:foregroundMark x1="11849" y1="53613" x2="11849" y2="53613"/>
                        <a14:foregroundMark x1="10417" y1="49316" x2="10417" y2="49316"/>
                        <a14:foregroundMark x1="10417" y1="46094" x2="10417" y2="46094"/>
                        <a14:foregroundMark x1="17578" y1="42871" x2="17578" y2="42871"/>
                        <a14:foregroundMark x1="15430" y1="47168" x2="15430" y2="47168"/>
                        <a14:foregroundMark x1="13997" y1="51465" x2="13997" y2="54688"/>
                        <a14:foregroundMark x1="13997" y1="57813" x2="13997" y2="62109"/>
                        <a14:foregroundMark x1="20443" y1="58887" x2="20443" y2="58887"/>
                        <a14:foregroundMark x1="21159" y1="58887" x2="21159" y2="58887"/>
                        <a14:foregroundMark x1="24740" y1="61035" x2="26888" y2="62109"/>
                        <a14:foregroundMark x1="26888" y1="61035" x2="26888" y2="61035"/>
                        <a14:foregroundMark x1="26888" y1="58887" x2="26888" y2="58887"/>
                        <a14:foregroundMark x1="29036" y1="55762" x2="29036" y2="55762"/>
                        <a14:foregroundMark x1="32552" y1="56738" x2="32552" y2="56738"/>
                        <a14:foregroundMark x1="33268" y1="56738" x2="26888" y2="53613"/>
                        <a14:foregroundMark x1="26172" y1="53613" x2="26172" y2="53613"/>
                        <a14:foregroundMark x1="26888" y1="53613" x2="28320" y2="56738"/>
                        <a14:foregroundMark x1="28320" y1="56738" x2="28320" y2="56738"/>
                        <a14:foregroundMark x1="28320" y1="56738" x2="28320" y2="56738"/>
                        <a14:foregroundMark x1="29753" y1="57813" x2="29753" y2="57813"/>
                        <a14:foregroundMark x1="28320" y1="57813" x2="28320" y2="57813"/>
                        <a14:foregroundMark x1="35417" y1="58887" x2="35417" y2="58887"/>
                        <a14:foregroundMark x1="33984" y1="59961" x2="33984" y2="59961"/>
                        <a14:foregroundMark x1="31836" y1="59961" x2="31836" y2="59961"/>
                        <a14:foregroundMark x1="30404" y1="59961" x2="30404" y2="59961"/>
                        <a14:foregroundMark x1="30404" y1="51465" x2="30404" y2="59961"/>
                        <a14:foregroundMark x1="30404" y1="61035" x2="30404" y2="66406"/>
                        <a14:foregroundMark x1="30404" y1="57813" x2="29753" y2="62109"/>
                        <a14:foregroundMark x1="29036" y1="62109" x2="25456" y2="63184"/>
                        <a14:foregroundMark x1="20443" y1="61035" x2="20443" y2="61035"/>
                        <a14:foregroundMark x1="16862" y1="62109" x2="16862" y2="62109"/>
                        <a14:foregroundMark x1="13281" y1="65332" x2="13281" y2="65332"/>
                        <a14:foregroundMark x1="11133" y1="64258" x2="11133" y2="64258"/>
                        <a14:foregroundMark x1="6120" y1="63184" x2="6120" y2="63184"/>
                        <a14:foregroundMark x1="4036" y1="58887" x2="4036" y2="58887"/>
                        <a14:foregroundMark x1="6836" y1="46094" x2="6120" y2="63184"/>
                        <a14:foregroundMark x1="6120" y1="37500" x2="5404" y2="47168"/>
                        <a14:foregroundMark x1="6120" y1="42871" x2="6120" y2="42871"/>
                        <a14:foregroundMark x1="7552" y1="42871" x2="7552" y2="42871"/>
                        <a14:foregroundMark x1="11849" y1="42871" x2="13997" y2="46094"/>
                        <a14:foregroundMark x1="8984" y1="40723" x2="8984" y2="40723"/>
                        <a14:foregroundMark x1="10417" y1="40723" x2="10417" y2="46094"/>
                        <a14:foregroundMark x1="10417" y1="46094" x2="10417" y2="46094"/>
                        <a14:foregroundMark x1="10417" y1="48242" x2="10417" y2="48242"/>
                        <a14:foregroundMark x1="6120" y1="45020" x2="6120" y2="45020"/>
                        <a14:foregroundMark x1="6120" y1="45020" x2="6120" y2="45020"/>
                        <a14:foregroundMark x1="5404" y1="45020" x2="5404" y2="45020"/>
                        <a14:foregroundMark x1="3320" y1="46094" x2="2604" y2="51465"/>
                        <a14:foregroundMark x1="2604" y1="48242" x2="2604" y2="52539"/>
                        <a14:foregroundMark x1="4036" y1="49316" x2="4753" y2="57813"/>
                        <a14:foregroundMark x1="4753" y1="55762" x2="4753" y2="55762"/>
                        <a14:foregroundMark x1="4753" y1="57813" x2="5404" y2="67480"/>
                        <a14:foregroundMark x1="6836" y1="66406" x2="9701" y2="65332"/>
                        <a14:foregroundMark x1="11849" y1="56738" x2="11849" y2="56738"/>
                        <a14:foregroundMark x1="8984" y1="58887" x2="6120" y2="63184"/>
                        <a14:foregroundMark x1="15430" y1="64258" x2="16862" y2="68555"/>
                        <a14:foregroundMark x1="21159" y1="58887" x2="21159" y2="58887"/>
                        <a14:foregroundMark x1="21875" y1="55762" x2="21875" y2="55762"/>
                        <a14:foregroundMark x1="20443" y1="51465" x2="20443" y2="51465"/>
                        <a14:foregroundMark x1="20443" y1="57813" x2="20443" y2="57813"/>
                        <a14:foregroundMark x1="20443" y1="59961" x2="20443" y2="63184"/>
                        <a14:foregroundMark x1="18294" y1="54688" x2="18294" y2="59961"/>
                        <a14:foregroundMark x1="17578" y1="61035" x2="20443" y2="62109"/>
                        <a14:foregroundMark x1="24740" y1="62109" x2="26172" y2="65332"/>
                        <a14:foregroundMark x1="24740" y1="61035" x2="28320" y2="62109"/>
                        <a14:foregroundMark x1="26888" y1="65332" x2="26888" y2="65332"/>
                        <a14:foregroundMark x1="22591" y1="64258" x2="22591" y2="64258"/>
                        <a14:foregroundMark x1="22591" y1="63184" x2="22591" y2="63184"/>
                        <a14:foregroundMark x1="21875" y1="59961" x2="21875" y2="59961"/>
                        <a14:foregroundMark x1="31120" y1="56738" x2="31120" y2="56738"/>
                        <a14:foregroundMark x1="33984" y1="58887" x2="34701" y2="62109"/>
                        <a14:foregroundMark x1="34701" y1="62109" x2="34701" y2="62109"/>
                        <a14:foregroundMark x1="36849" y1="62109" x2="36849" y2="62109"/>
                        <a14:foregroundMark x1="36849" y1="62109" x2="40430" y2="62109"/>
                        <a14:foregroundMark x1="35417" y1="64258" x2="35417" y2="64258"/>
                        <a14:foregroundMark x1="30404" y1="61035" x2="30404" y2="61035"/>
                        <a14:foregroundMark x1="57552" y1="56738" x2="57552" y2="56738"/>
                        <a14:foregroundMark x1="38281" y1="58887" x2="43294" y2="63184"/>
                        <a14:foregroundMark x1="44727" y1="63184" x2="44727" y2="63184"/>
                        <a14:foregroundMark x1="47591" y1="62109" x2="53320" y2="62109"/>
                        <a14:foregroundMark x1="53320" y1="62109" x2="56120" y2="63184"/>
                        <a14:foregroundMark x1="60417" y1="64258" x2="74740" y2="70703"/>
                        <a14:foregroundMark x1="62565" y1="61035" x2="62565" y2="61035"/>
                        <a14:foregroundMark x1="62565" y1="61035" x2="62565" y2="61035"/>
                        <a14:foregroundMark x1="63997" y1="61035" x2="63997" y2="61035"/>
                        <a14:foregroundMark x1="67578" y1="61035" x2="67578" y2="61035"/>
                        <a14:foregroundMark x1="69010" y1="61035" x2="69010" y2="61035"/>
                        <a14:foregroundMark x1="72591" y1="61035" x2="75456" y2="61035"/>
                        <a14:foregroundMark x1="78320" y1="59961" x2="78320" y2="59961"/>
                        <a14:foregroundMark x1="79753" y1="59961" x2="79753" y2="59961"/>
                        <a14:foregroundMark x1="81836" y1="59961" x2="81836" y2="59961"/>
                        <a14:foregroundMark x1="83268" y1="59961" x2="83268" y2="59961"/>
                        <a14:foregroundMark x1="86133" y1="59961" x2="86133" y2="59961"/>
                        <a14:foregroundMark x1="86133" y1="53613" x2="86133" y2="53613"/>
                        <a14:foregroundMark x1="86133" y1="53613" x2="88997" y2="58887"/>
                        <a14:foregroundMark x1="86133" y1="54688" x2="86133" y2="64258"/>
                        <a14:foregroundMark x1="83984" y1="68555" x2="83984" y2="68555"/>
                        <a14:foregroundMark x1="78320" y1="64258" x2="78320" y2="64258"/>
                        <a14:foregroundMark x1="78320" y1="61035" x2="78320" y2="61035"/>
                        <a14:foregroundMark x1="79753" y1="61035" x2="79753" y2="61035"/>
                        <a14:foregroundMark x1="74023" y1="63184" x2="79036" y2="64258"/>
                        <a14:foregroundMark x1="88281" y1="62109" x2="96875" y2="59961"/>
                        <a14:foregroundMark x1="90430" y1="29980" x2="64714" y2="11816"/>
                        <a14:foregroundMark x1="66862" y1="19238" x2="16536" y2="35352"/>
                        <a14:foregroundMark x1="16536" y1="35352" x2="15430" y2="36426"/>
                        <a14:foregroundMark x1="49023" y1="22461" x2="20443" y2="40723"/>
                        <a14:foregroundMark x1="39714" y1="18262" x2="39714" y2="18262"/>
                        <a14:foregroundMark x1="42578" y1="25684" x2="24023" y2="32813"/>
                        <a14:foregroundMark x1="24023" y1="32813" x2="12565" y2="45020"/>
                        <a14:foregroundMark x1="37565" y1="24609" x2="19271" y2="38379"/>
                        <a14:foregroundMark x1="19271" y1="38379" x2="16146" y2="43945"/>
                        <a14:foregroundMark x1="41862" y1="21387" x2="41862" y2="21387"/>
                        <a14:foregroundMark x1="38997" y1="20313" x2="15430" y2="41797"/>
                        <a14:foregroundMark x1="38281" y1="22461" x2="17904" y2="37500"/>
                        <a14:foregroundMark x1="17904" y1="37500" x2="14714" y2="41797"/>
                        <a14:foregroundMark x1="29753" y1="22461" x2="16146" y2="45020"/>
                        <a14:foregroundMark x1="49023" y1="17188" x2="44010" y2="25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328828"/>
            <a:ext cx="2667000" cy="1778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644C6CD-F884-D912-8495-794599BC9A7E}"/>
              </a:ext>
            </a:extLst>
          </p:cNvPr>
          <p:cNvSpPr txBox="1"/>
          <p:nvPr/>
        </p:nvSpPr>
        <p:spPr>
          <a:xfrm>
            <a:off x="968484" y="3678840"/>
            <a:ext cx="8251716" cy="767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Subject: Notice of Delivery Delay</a:t>
            </a:r>
          </a:p>
          <a:p>
            <a:pPr>
              <a:lnSpc>
                <a:spcPct val="150000"/>
              </a:lnSpc>
              <a:buNone/>
            </a:pP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Dear </a:t>
            </a: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[Client Name]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We regret to inform you that the delivery of the above-referenced order has been </a:t>
            </a: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unavoidably delayed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 due to:</a:t>
            </a:r>
          </a:p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Reason for Delay:</a:t>
            </a:r>
            <a:b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</a:b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[Brief explanation – e.g., supply chain disruption, transport challenges, production delay, customs clearance, weather conditions, etc.]</a:t>
            </a:r>
          </a:p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Revised Delivery Schedule</a:t>
            </a:r>
          </a:p>
          <a:p>
            <a:pPr>
              <a:lnSpc>
                <a:spcPct val="150000"/>
              </a:lnSpc>
              <a:buNone/>
            </a:pP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The new expected delivery date is:</a:t>
            </a:r>
          </a:p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New Delivery Date: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 </a:t>
            </a: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[DD/MM/YYYY]</a:t>
            </a:r>
            <a:endParaRPr lang="en-US" sz="1500" dirty="0">
              <a:latin typeface="Calibri Regular"/>
              <a:ea typeface="Lato Regular" panose="020F0502020204030203" pitchFamily="34" charset="0"/>
              <a:cs typeface="Lato Regular" panose="020F050202020403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Our team is actively working to minimize the delay and ensure your order is delivered as soon as possible.</a:t>
            </a:r>
          </a:p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Our Commitment</a:t>
            </a:r>
          </a:p>
          <a:p>
            <a:pPr>
              <a:lnSpc>
                <a:spcPct val="150000"/>
              </a:lnSpc>
              <a:buNone/>
            </a:pP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We sincerely apologize for any inconvenience this may cause and appreciate your patience and understanding. Please rest assured that we remain fully committed to providing reliable and timely service.</a:t>
            </a:r>
          </a:p>
          <a:p>
            <a:pPr>
              <a:lnSpc>
                <a:spcPct val="150000"/>
              </a:lnSpc>
              <a:buNone/>
            </a:pP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Should you require further clarification or wish to discuss this update, please feel free to contact us.</a:t>
            </a:r>
          </a:p>
          <a:p>
            <a:pPr>
              <a:lnSpc>
                <a:spcPct val="150000"/>
              </a:lnSpc>
              <a:buNone/>
            </a:pPr>
            <a:endParaRPr lang="en-US" sz="1500" b="1" dirty="0">
              <a:latin typeface="Calibri Regular"/>
              <a:ea typeface="Lato Regular" panose="020F0502020204030203" pitchFamily="34" charset="0"/>
              <a:cs typeface="Lato Regular" panose="020F050202020403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Company Name: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 [Your Company Name]                                                              </a:t>
            </a:r>
            <a:b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</a:b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Contact Person: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 [Name]</a:t>
            </a:r>
            <a:b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</a:b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Phone: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 [Phone Number]</a:t>
            </a:r>
            <a:b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</a:br>
            <a:r>
              <a:rPr lang="en-US" sz="1500" b="1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Email:</a:t>
            </a:r>
            <a:r>
              <a:rPr lang="en-US" sz="1500" dirty="0">
                <a:latin typeface="Calibri Regular"/>
                <a:ea typeface="Lato Regular" panose="020F0502020204030203" pitchFamily="34" charset="0"/>
                <a:cs typeface="Lato Regular" panose="020F0502020204030203" pitchFamily="34" charset="0"/>
              </a:rPr>
              <a:t> [Email Address]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C9C6F2-6D84-0350-D2E6-5EDECDAEEE59}"/>
              </a:ext>
            </a:extLst>
          </p:cNvPr>
          <p:cNvSpPr txBox="1"/>
          <p:nvPr/>
        </p:nvSpPr>
        <p:spPr>
          <a:xfrm>
            <a:off x="5931337" y="9940859"/>
            <a:ext cx="371474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Authorized by:</a:t>
            </a:r>
            <a:r>
              <a:rPr lang="en-US" sz="1600" dirty="0"/>
              <a:t>[Name &amp; Position]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256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Calibri Regular</vt:lpstr>
      <vt:lpstr>Lato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Corporate Notice of Violation A4</dc:title>
  <dc:creator>HP</dc:creator>
  <cp:lastModifiedBy>joy ntizimira</cp:lastModifiedBy>
  <cp:revision>2</cp:revision>
  <dcterms:created xsi:type="dcterms:W3CDTF">2006-08-16T00:00:00Z</dcterms:created>
  <dcterms:modified xsi:type="dcterms:W3CDTF">2026-03-27T12:43:28Z</dcterms:modified>
  <dc:identifier>DAHFI-faedE</dc:identifier>
</cp:coreProperties>
</file>