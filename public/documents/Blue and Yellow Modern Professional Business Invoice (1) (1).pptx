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7556500" cy="10693400"/>
  <p:notesSz cx="6858000" cy="9144000"/>
  <p:embeddedFontLst>
    <p:embeddedFont>
      <p:font typeface="Poppins" panose="00000500000000000000" pitchFamily="2" charset="0"/>
      <p:regular r:id="rId3"/>
    </p:embeddedFont>
    <p:embeddedFont>
      <p:font typeface="Poppins Bold" panose="020B0604020202020204" charset="0"/>
      <p:regular r:id="rId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8" d="100"/>
          <a:sy n="68" d="100"/>
        </p:scale>
        <p:origin x="3186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font" Target="fonts/font1.fntdata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010" y="241021"/>
            <a:ext cx="7560000" cy="1199548"/>
            <a:chOff x="0" y="0"/>
            <a:chExt cx="2709333" cy="51194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09333" cy="511941"/>
            </a:xfrm>
            <a:custGeom>
              <a:avLst/>
              <a:gdLst/>
              <a:ahLst/>
              <a:cxnLst/>
              <a:rect l="l" t="t" r="r" b="b"/>
              <a:pathLst>
                <a:path w="2709333" h="511941">
                  <a:moveTo>
                    <a:pt x="0" y="0"/>
                  </a:moveTo>
                  <a:lnTo>
                    <a:pt x="2709333" y="0"/>
                  </a:lnTo>
                  <a:lnTo>
                    <a:pt x="2709333" y="511941"/>
                  </a:lnTo>
                  <a:lnTo>
                    <a:pt x="0" y="511941"/>
                  </a:lnTo>
                  <a:close/>
                </a:path>
              </a:pathLst>
            </a:custGeom>
            <a:gradFill rotWithShape="1">
              <a:gsLst>
                <a:gs pos="0">
                  <a:srgbClr val="FEFFFF">
                    <a:alpha val="100000"/>
                  </a:srgbClr>
                </a:gs>
                <a:gs pos="100000">
                  <a:srgbClr val="C5C5C5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2709333" cy="5309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0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flipV="1">
            <a:off x="10010" y="9140850"/>
            <a:ext cx="7549990" cy="1555306"/>
          </a:xfrm>
          <a:custGeom>
            <a:avLst/>
            <a:gdLst/>
            <a:ahLst/>
            <a:cxnLst/>
            <a:rect l="l" t="t" r="r" b="b"/>
            <a:pathLst>
              <a:path w="7560000" h="2910600">
                <a:moveTo>
                  <a:pt x="0" y="2910600"/>
                </a:moveTo>
                <a:lnTo>
                  <a:pt x="7560000" y="2910600"/>
                </a:lnTo>
                <a:lnTo>
                  <a:pt x="7560000" y="0"/>
                </a:lnTo>
                <a:lnTo>
                  <a:pt x="0" y="0"/>
                </a:lnTo>
                <a:lnTo>
                  <a:pt x="0" y="29106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6" name="AutoShape 6"/>
          <p:cNvSpPr/>
          <p:nvPr/>
        </p:nvSpPr>
        <p:spPr>
          <a:xfrm flipV="1">
            <a:off x="723373" y="3349294"/>
            <a:ext cx="30876" cy="2016649"/>
          </a:xfrm>
          <a:prstGeom prst="line">
            <a:avLst/>
          </a:prstGeom>
          <a:ln w="19050" cap="flat">
            <a:solidFill>
              <a:srgbClr val="49444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7"/>
          <p:cNvSpPr/>
          <p:nvPr/>
        </p:nvSpPr>
        <p:spPr>
          <a:xfrm>
            <a:off x="773299" y="5365943"/>
            <a:ext cx="6033423" cy="0"/>
          </a:xfrm>
          <a:prstGeom prst="line">
            <a:avLst/>
          </a:prstGeom>
          <a:ln w="9525" cap="flat">
            <a:solidFill>
              <a:srgbClr val="49444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AutoShape 8"/>
          <p:cNvSpPr/>
          <p:nvPr/>
        </p:nvSpPr>
        <p:spPr>
          <a:xfrm>
            <a:off x="773299" y="4052772"/>
            <a:ext cx="6033423" cy="0"/>
          </a:xfrm>
          <a:prstGeom prst="line">
            <a:avLst/>
          </a:prstGeom>
          <a:ln w="9525" cap="flat">
            <a:solidFill>
              <a:srgbClr val="49444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AutoShape 9"/>
          <p:cNvSpPr/>
          <p:nvPr/>
        </p:nvSpPr>
        <p:spPr>
          <a:xfrm flipH="1" flipV="1">
            <a:off x="5545603" y="3368113"/>
            <a:ext cx="0" cy="1532585"/>
          </a:xfrm>
          <a:prstGeom prst="line">
            <a:avLst/>
          </a:prstGeom>
          <a:ln w="19050" cap="flat">
            <a:solidFill>
              <a:srgbClr val="49444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AutoShape 10"/>
          <p:cNvSpPr/>
          <p:nvPr/>
        </p:nvSpPr>
        <p:spPr>
          <a:xfrm flipH="1" flipV="1">
            <a:off x="6792724" y="3358819"/>
            <a:ext cx="9525" cy="3605860"/>
          </a:xfrm>
          <a:prstGeom prst="line">
            <a:avLst/>
          </a:prstGeom>
          <a:ln w="19050" cap="flat">
            <a:solidFill>
              <a:srgbClr val="49444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AutoShape 11"/>
          <p:cNvSpPr/>
          <p:nvPr/>
        </p:nvSpPr>
        <p:spPr>
          <a:xfrm>
            <a:off x="723373" y="4863234"/>
            <a:ext cx="6033423" cy="0"/>
          </a:xfrm>
          <a:prstGeom prst="line">
            <a:avLst/>
          </a:prstGeom>
          <a:ln w="9525" cap="flat">
            <a:solidFill>
              <a:srgbClr val="49444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AutoShape 12"/>
          <p:cNvSpPr/>
          <p:nvPr/>
        </p:nvSpPr>
        <p:spPr>
          <a:xfrm>
            <a:off x="773299" y="4522881"/>
            <a:ext cx="6033423" cy="0"/>
          </a:xfrm>
          <a:prstGeom prst="line">
            <a:avLst/>
          </a:prstGeom>
          <a:ln w="9525" cap="flat">
            <a:solidFill>
              <a:srgbClr val="49444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AutoShape 13"/>
          <p:cNvSpPr/>
          <p:nvPr/>
        </p:nvSpPr>
        <p:spPr>
          <a:xfrm flipV="1">
            <a:off x="4660827" y="6576541"/>
            <a:ext cx="2131897" cy="0"/>
          </a:xfrm>
          <a:prstGeom prst="line">
            <a:avLst/>
          </a:prstGeom>
          <a:ln w="19050" cap="flat">
            <a:solidFill>
              <a:srgbClr val="49444B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5" name="Group 15"/>
          <p:cNvGrpSpPr/>
          <p:nvPr/>
        </p:nvGrpSpPr>
        <p:grpSpPr>
          <a:xfrm>
            <a:off x="752199" y="3349294"/>
            <a:ext cx="6052101" cy="331095"/>
            <a:chOff x="0" y="0"/>
            <a:chExt cx="2785727" cy="1524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785727" cy="152400"/>
            </a:xfrm>
            <a:custGeom>
              <a:avLst/>
              <a:gdLst/>
              <a:ahLst/>
              <a:cxnLst/>
              <a:rect l="l" t="t" r="r" b="b"/>
              <a:pathLst>
                <a:path w="2785727" h="152400">
                  <a:moveTo>
                    <a:pt x="0" y="0"/>
                  </a:moveTo>
                  <a:lnTo>
                    <a:pt x="2785727" y="0"/>
                  </a:lnTo>
                  <a:lnTo>
                    <a:pt x="2785727" y="152400"/>
                  </a:lnTo>
                  <a:lnTo>
                    <a:pt x="0" y="152400"/>
                  </a:lnTo>
                  <a:close/>
                </a:path>
              </a:pathLst>
            </a:custGeom>
            <a:solidFill>
              <a:srgbClr val="A20D0D"/>
            </a:solidFill>
          </p:spPr>
        </p:sp>
      </p:grpSp>
      <p:sp>
        <p:nvSpPr>
          <p:cNvPr id="17" name="AutoShape 17"/>
          <p:cNvSpPr/>
          <p:nvPr/>
        </p:nvSpPr>
        <p:spPr>
          <a:xfrm>
            <a:off x="4646351" y="6964679"/>
            <a:ext cx="2155898" cy="0"/>
          </a:xfrm>
          <a:prstGeom prst="line">
            <a:avLst/>
          </a:prstGeom>
          <a:ln w="19050" cap="flat">
            <a:solidFill>
              <a:srgbClr val="49444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8" name="Freeform 18"/>
          <p:cNvSpPr/>
          <p:nvPr/>
        </p:nvSpPr>
        <p:spPr>
          <a:xfrm>
            <a:off x="452086" y="9647666"/>
            <a:ext cx="287705" cy="287705"/>
          </a:xfrm>
          <a:custGeom>
            <a:avLst/>
            <a:gdLst/>
            <a:ahLst/>
            <a:cxnLst/>
            <a:rect l="l" t="t" r="r" b="b"/>
            <a:pathLst>
              <a:path w="287705" h="287705">
                <a:moveTo>
                  <a:pt x="0" y="0"/>
                </a:moveTo>
                <a:lnTo>
                  <a:pt x="287705" y="0"/>
                </a:lnTo>
                <a:lnTo>
                  <a:pt x="287705" y="287705"/>
                </a:lnTo>
                <a:lnTo>
                  <a:pt x="0" y="28770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482384" y="9997942"/>
            <a:ext cx="287705" cy="287705"/>
          </a:xfrm>
          <a:custGeom>
            <a:avLst/>
            <a:gdLst/>
            <a:ahLst/>
            <a:cxnLst/>
            <a:rect l="l" t="t" r="r" b="b"/>
            <a:pathLst>
              <a:path w="287705" h="287705">
                <a:moveTo>
                  <a:pt x="0" y="0"/>
                </a:moveTo>
                <a:lnTo>
                  <a:pt x="287705" y="0"/>
                </a:lnTo>
                <a:lnTo>
                  <a:pt x="287705" y="287704"/>
                </a:lnTo>
                <a:lnTo>
                  <a:pt x="0" y="28770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482384" y="10353379"/>
            <a:ext cx="287705" cy="287705"/>
          </a:xfrm>
          <a:custGeom>
            <a:avLst/>
            <a:gdLst/>
            <a:ahLst/>
            <a:cxnLst/>
            <a:rect l="l" t="t" r="r" b="b"/>
            <a:pathLst>
              <a:path w="287705" h="287705">
                <a:moveTo>
                  <a:pt x="0" y="0"/>
                </a:moveTo>
                <a:lnTo>
                  <a:pt x="287705" y="0"/>
                </a:lnTo>
                <a:lnTo>
                  <a:pt x="287705" y="287705"/>
                </a:lnTo>
                <a:lnTo>
                  <a:pt x="0" y="28770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21" name="Freeform 21"/>
          <p:cNvSpPr/>
          <p:nvPr/>
        </p:nvSpPr>
        <p:spPr>
          <a:xfrm>
            <a:off x="210885" y="179020"/>
            <a:ext cx="1586165" cy="1102187"/>
          </a:xfrm>
          <a:custGeom>
            <a:avLst/>
            <a:gdLst/>
            <a:ahLst/>
            <a:cxnLst/>
            <a:rect l="l" t="t" r="r" b="b"/>
            <a:pathLst>
              <a:path w="1511497" h="1007035">
                <a:moveTo>
                  <a:pt x="0" y="0"/>
                </a:moveTo>
                <a:lnTo>
                  <a:pt x="1511498" y="0"/>
                </a:lnTo>
                <a:lnTo>
                  <a:pt x="1511498" y="1007035"/>
                </a:lnTo>
                <a:lnTo>
                  <a:pt x="0" y="100703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2" name="TextBox 22"/>
          <p:cNvSpPr txBox="1"/>
          <p:nvPr/>
        </p:nvSpPr>
        <p:spPr>
          <a:xfrm>
            <a:off x="4672103" y="274610"/>
            <a:ext cx="2641814" cy="701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31"/>
              </a:lnSpc>
            </a:pPr>
            <a:r>
              <a:rPr lang="en-US" sz="3879" b="1" dirty="0">
                <a:solidFill>
                  <a:srgbClr val="A20D0D"/>
                </a:solidFill>
                <a:latin typeface="Poppins Bold"/>
                <a:ea typeface="Poppins Bold"/>
                <a:cs typeface="Poppins Bold"/>
                <a:sym typeface="Poppins Bold"/>
              </a:rPr>
              <a:t>INVOICE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839391" y="3448237"/>
            <a:ext cx="818884" cy="417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b="1" dirty="0">
                <a:solidFill>
                  <a:srgbClr val="FAF8F8"/>
                </a:solidFill>
                <a:latin typeface="Poppins Bold"/>
                <a:ea typeface="Poppins Bold"/>
                <a:cs typeface="Poppins Bold"/>
                <a:sym typeface="Poppins Bold"/>
              </a:rPr>
              <a:t>INVOICE NUMBER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354033" y="3448237"/>
            <a:ext cx="1001070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b="1">
                <a:solidFill>
                  <a:srgbClr val="FAF8F8"/>
                </a:solidFill>
                <a:latin typeface="Poppins Bold"/>
                <a:ea typeface="Poppins Bold"/>
                <a:cs typeface="Poppins Bold"/>
                <a:sym typeface="Poppins Bold"/>
              </a:rPr>
              <a:t>REFERENCE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827920" y="3396731"/>
            <a:ext cx="932131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sz="1200" b="1">
                <a:solidFill>
                  <a:srgbClr val="FAF8F8"/>
                </a:solidFill>
                <a:latin typeface="Poppins Bold"/>
                <a:ea typeface="Poppins Bold"/>
                <a:cs typeface="Poppins Bold"/>
                <a:sym typeface="Poppins Bold"/>
              </a:rPr>
              <a:t>AMOUNT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55358" y="3396731"/>
            <a:ext cx="1197432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200" b="1">
                <a:solidFill>
                  <a:srgbClr val="FAF8F8"/>
                </a:solidFill>
                <a:latin typeface="Poppins Bold"/>
                <a:ea typeface="Poppins Bold"/>
                <a:cs typeface="Poppins Bold"/>
                <a:sym typeface="Poppins Bold"/>
              </a:rPr>
              <a:t>INVOICE DATE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354033" y="6610256"/>
            <a:ext cx="1321686" cy="251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46"/>
              </a:lnSpc>
            </a:pPr>
            <a:r>
              <a:rPr lang="en-US" sz="14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Total :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829774" y="6610256"/>
            <a:ext cx="928423" cy="2519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46"/>
              </a:lnSpc>
            </a:pPr>
            <a:r>
              <a:rPr lang="en-US" sz="14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$8,800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55358" y="3769947"/>
            <a:ext cx="1321686" cy="2091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67"/>
              </a:lnSpc>
            </a:pPr>
            <a:r>
              <a:rPr lang="en-US" sz="11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17/03/2026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55358" y="4201381"/>
            <a:ext cx="1321686" cy="2091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67"/>
              </a:lnSpc>
            </a:pPr>
            <a:r>
              <a:rPr lang="en-US" sz="1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17/03/2026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2370130" y="3769947"/>
            <a:ext cx="1715035" cy="216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66"/>
              </a:lnSpc>
            </a:pPr>
            <a:r>
              <a:rPr lang="en-US" sz="127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BILL/2026/03/0067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2369082" y="4209935"/>
            <a:ext cx="1716084" cy="2091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67"/>
              </a:lnSpc>
            </a:pPr>
            <a:r>
              <a:rPr lang="en-US" sz="1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DTB1/2026/00064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5869453" y="3779472"/>
            <a:ext cx="788512" cy="166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89"/>
              </a:lnSpc>
            </a:pPr>
            <a:r>
              <a:rPr lang="en-US" sz="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$ 16,500.00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5869453" y="4210906"/>
            <a:ext cx="838437" cy="166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89"/>
              </a:lnSpc>
            </a:pPr>
            <a:r>
              <a:rPr lang="en-US" sz="9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$ - 2,700.00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5896193" y="5062951"/>
            <a:ext cx="728806" cy="166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89"/>
              </a:lnSpc>
            </a:pPr>
            <a:r>
              <a:rPr lang="en-US" sz="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$ 8,800.00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912044" y="4616177"/>
            <a:ext cx="1321686" cy="2091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67"/>
              </a:lnSpc>
            </a:pPr>
            <a:r>
              <a:rPr lang="en-US" sz="1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23/03/2026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2526759" y="4599540"/>
            <a:ext cx="1444149" cy="2091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67"/>
              </a:lnSpc>
            </a:pPr>
            <a:r>
              <a:rPr lang="en-US" sz="11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PDTB1/2026/00001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5869453" y="4642339"/>
            <a:ext cx="838437" cy="166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89"/>
              </a:lnSpc>
            </a:pPr>
            <a:r>
              <a:rPr lang="en-US" sz="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$ - 5,000.00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773299" y="5802013"/>
            <a:ext cx="2371078" cy="2596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5"/>
              </a:lnSpc>
            </a:pPr>
            <a:r>
              <a:rPr lang="en-US" sz="1403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Payment Method :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65302" y="1883867"/>
            <a:ext cx="3343739" cy="233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819"/>
              </a:lnSpc>
              <a:spcBef>
                <a:spcPct val="0"/>
              </a:spcBef>
            </a:pPr>
            <a:r>
              <a:rPr lang="en-US" sz="1299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PAYMENT RECEIPT: PDTB1/2026/00001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752199" y="2228134"/>
            <a:ext cx="3087694" cy="283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239"/>
              </a:lnSpc>
              <a:spcBef>
                <a:spcPct val="0"/>
              </a:spcBef>
            </a:pPr>
            <a:r>
              <a:rPr lang="en-US" sz="1599" b="1" spc="-3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Payment Date: 23/03/2026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765302" y="2624254"/>
            <a:ext cx="2681423" cy="219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9"/>
              </a:lnSpc>
            </a:pPr>
            <a:r>
              <a:rPr lang="en-US" sz="12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Vendor: MARZIQ Company Ltd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765525" y="2904303"/>
            <a:ext cx="2232342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1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Payment Amount: $ 5,000.00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543120" y="6162315"/>
            <a:ext cx="2129632" cy="207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679"/>
              </a:lnSpc>
            </a:pPr>
            <a:r>
              <a:rPr lang="en-US" sz="11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Memo: BILL/2026/03/0067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924648" y="10090112"/>
            <a:ext cx="2205872" cy="207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667"/>
              </a:lnSpc>
            </a:pPr>
            <a:r>
              <a:rPr lang="en-US" sz="119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info@tekaccess.rw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828683" y="9700988"/>
            <a:ext cx="2106026" cy="207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667"/>
              </a:lnSpc>
            </a:pPr>
            <a:r>
              <a:rPr lang="en-US" sz="119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+250788326686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914243" y="10401841"/>
            <a:ext cx="2205872" cy="4242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667"/>
              </a:lnSpc>
            </a:pPr>
            <a:r>
              <a:rPr lang="en-US" sz="119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13 KG 599 </a:t>
            </a:r>
            <a:r>
              <a:rPr lang="en-US" sz="1191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StGishushu</a:t>
            </a:r>
            <a:endParaRPr lang="en-US" sz="1191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1667"/>
              </a:lnSpc>
            </a:pPr>
            <a:endParaRPr lang="en-US" sz="1191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8" name="TextBox 48"/>
          <p:cNvSpPr txBox="1"/>
          <p:nvPr/>
        </p:nvSpPr>
        <p:spPr>
          <a:xfrm>
            <a:off x="1730046" y="721096"/>
            <a:ext cx="1980765" cy="1384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900" dirty="0">
                <a:solidFill>
                  <a:schemeClr val="tx2">
                    <a:lumMod val="75000"/>
                  </a:schemeClr>
                </a:solidFill>
              </a:rPr>
              <a:t>“Built on trust. Delivered with Excellence.”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902967" y="5020396"/>
            <a:ext cx="5078767" cy="208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2"/>
              </a:lnSpc>
              <a:spcBef>
                <a:spcPct val="0"/>
              </a:spcBef>
            </a:pPr>
            <a:r>
              <a:rPr lang="en-US" sz="121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Due Amount for BILL/2026/03/0067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2779563" y="4670518"/>
            <a:ext cx="3965125" cy="1926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54"/>
              </a:lnSpc>
              <a:spcBef>
                <a:spcPct val="0"/>
              </a:spcBef>
            </a:pPr>
            <a:r>
              <a:rPr lang="en-US" sz="1046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BILL/2026/03/0067</a:t>
            </a:r>
          </a:p>
        </p:txBody>
      </p:sp>
      <p:sp>
        <p:nvSpPr>
          <p:cNvPr id="51" name="AutoShape 51"/>
          <p:cNvSpPr/>
          <p:nvPr/>
        </p:nvSpPr>
        <p:spPr>
          <a:xfrm flipH="1" flipV="1">
            <a:off x="2235731" y="3425318"/>
            <a:ext cx="8712" cy="1399163"/>
          </a:xfrm>
          <a:prstGeom prst="line">
            <a:avLst/>
          </a:prstGeom>
          <a:ln w="19050" cap="flat">
            <a:solidFill>
              <a:srgbClr val="49444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2" name="AutoShape 52"/>
          <p:cNvSpPr/>
          <p:nvPr/>
        </p:nvSpPr>
        <p:spPr>
          <a:xfrm flipH="1" flipV="1">
            <a:off x="4069115" y="3334926"/>
            <a:ext cx="290" cy="1474670"/>
          </a:xfrm>
          <a:prstGeom prst="line">
            <a:avLst/>
          </a:prstGeom>
          <a:ln w="19050" cap="flat">
            <a:solidFill>
              <a:srgbClr val="49444B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84</Words>
  <Application>Microsoft Office PowerPoint</Application>
  <PresentationFormat>Custom</PresentationFormat>
  <Paragraphs>29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Poppins Bold</vt:lpstr>
      <vt:lpstr>Arial</vt:lpstr>
      <vt:lpstr>Calibri</vt:lpstr>
      <vt:lpstr>Poppins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and Yellow Modern Professional Business Invoice</dc:title>
  <dc:creator>HP</dc:creator>
  <cp:lastModifiedBy>joy ntizimira</cp:lastModifiedBy>
  <cp:revision>9</cp:revision>
  <dcterms:created xsi:type="dcterms:W3CDTF">2006-08-16T00:00:00Z</dcterms:created>
  <dcterms:modified xsi:type="dcterms:W3CDTF">2026-03-25T12:30:33Z</dcterms:modified>
  <dc:identifier>DAHEq8MzyQ4</dc:identifier>
</cp:coreProperties>
</file>